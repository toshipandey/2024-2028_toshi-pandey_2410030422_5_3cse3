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1831"/>
          </a:solidFill>
          <a:ln w="12700">
            <a:solidFill>
              <a:srgbClr val="8E18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6510528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IILM UNIVERSITY • AI DEPLOYMENT &amp; AUTOMATION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0" y="6510528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TOSHI PANDEY • 2410030422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9080" cy="6858000"/>
          </a:xfrm>
          <a:prstGeom prst="rect">
            <a:avLst/>
          </a:prstGeom>
          <a:solidFill>
            <a:srgbClr val="182B4A"/>
          </a:solidFill>
          <a:ln w="12700">
            <a:solidFill>
              <a:srgbClr val="18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0" y="0"/>
            <a:ext cx="228600" cy="6858000"/>
          </a:xfrm>
          <a:prstGeom prst="rect">
            <a:avLst/>
          </a:prstGeom>
          <a:solidFill>
            <a:srgbClr val="8E1831"/>
          </a:solidFill>
          <a:ln w="12700">
            <a:solidFill>
              <a:srgbClr val="8E1831"/>
            </a:solidFill>
            <a:prstDash val="solid"/>
          </a:ln>
        </p:spPr>
      </p:sp>
      <p:pic>
        <p:nvPicPr>
          <p:cNvPr id="4" name="Image 0" descr="/mnt/data/template_imgs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585216"/>
            <a:ext cx="960120" cy="10241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17373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IILM UNIVERSITY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66928" y="20848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D7DF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GREATER NOIDA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66928" y="27432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SUMMER</a:t>
            </a:r>
            <a:endParaRPr lang="en-US" sz="2500" dirty="0"/>
          </a:p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INTERNSHIP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566928" y="3931920"/>
            <a:ext cx="1508760" cy="310896"/>
          </a:xfrm>
          <a:prstGeom prst="roundRect">
            <a:avLst>
              <a:gd name="adj" fmla="val 17647"/>
            </a:avLst>
          </a:prstGeom>
          <a:solidFill>
            <a:srgbClr val="2D4164"/>
          </a:solidFill>
          <a:ln w="12700">
            <a:solidFill>
              <a:srgbClr val="2D416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1792" y="3950208"/>
            <a:ext cx="1399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 • 8 WEEKS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66928" y="4443984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D7DF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AICTE – EduSkills Virtual Internship Program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480560" y="1143000"/>
            <a:ext cx="6903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DEPLOYMENT &amp; AUTOMATION</a:t>
            </a:r>
            <a:endParaRPr lang="en-US" sz="3100" dirty="0"/>
          </a:p>
        </p:txBody>
      </p:sp>
      <p:sp>
        <p:nvSpPr>
          <p:cNvPr id="12" name="Text 9"/>
          <p:cNvSpPr/>
          <p:nvPr/>
        </p:nvSpPr>
        <p:spPr>
          <a:xfrm>
            <a:off x="4498848" y="214884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85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Industry-oriented learning in production AI, deployment, automation and MLOps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498848" y="3154680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80" kern="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NAME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498848" y="331927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TOSHI PANDEY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7909560" y="3154680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80" kern="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ENROLLMENT NUMBER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7909560" y="331927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2410030422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4498848" y="3867912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80" kern="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&amp; SEMESTER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4498848" y="403250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B.Tech CSE • 5th Semester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7909560" y="3867912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80" kern="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7909560" y="403250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3CSE3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4498848" y="4581144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80" kern="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ORGANIZATION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498848" y="4745736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EduSkills Foundation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7909560" y="4581144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80" kern="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INTERNSHIP DOMAIN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7909560" y="4745736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Deployment &amp; Automation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4498848" y="565099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Internship period: June 2026 – August 2026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498848" y="59436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Presented to the School of Computer Science and Engineering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Internship Overview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85216" y="1033272"/>
            <a:ext cx="1051560" cy="0"/>
          </a:xfrm>
          <a:prstGeom prst="line">
            <a:avLst/>
          </a:prstGeom>
          <a:noFill/>
          <a:ln w="31750">
            <a:solidFill>
              <a:srgbClr val="8E183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107899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AICTE – EduSkills program covered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85216" y="1572768"/>
            <a:ext cx="34747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216" y="1572768"/>
            <a:ext cx="73152" cy="1234440"/>
          </a:xfrm>
          <a:prstGeom prst="rect">
            <a:avLst/>
          </a:prstGeom>
          <a:solidFill>
            <a:srgbClr val="8E1831"/>
          </a:solidFill>
          <a:ln w="12700">
            <a:solidFill>
              <a:srgbClr val="8E183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737360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86384" y="2139696"/>
            <a:ext cx="312724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485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8-week virtual internship with week-wise learning, assessments, project documentation and a final assessment test.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4361688" y="1572768"/>
            <a:ext cx="34747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61688" y="1572768"/>
            <a:ext cx="73152" cy="1234440"/>
          </a:xfrm>
          <a:prstGeom prst="rect">
            <a:avLst/>
          </a:prstGeom>
          <a:solidFill>
            <a:srgbClr val="244C74"/>
          </a:solidFill>
          <a:ln w="12700">
            <a:solidFill>
              <a:srgbClr val="244C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62856" y="1737360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62856" y="2139696"/>
            <a:ext cx="312724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485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Deployment &amp; Automation — from model serving and containers to cloud, agents, observability and RAG.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8138160" y="1572768"/>
            <a:ext cx="34747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0" y="1572768"/>
            <a:ext cx="73152" cy="1234440"/>
          </a:xfrm>
          <a:prstGeom prst="rect">
            <a:avLst/>
          </a:prstGeom>
          <a:solidFill>
            <a:srgbClr val="4B6E52"/>
          </a:solidFill>
          <a:ln w="12700">
            <a:solidFill>
              <a:srgbClr val="4B6E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39328" y="1737360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39328" y="2139696"/>
            <a:ext cx="312724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485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Successful completion of the internship requirements and award of the internship credential.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603504" y="3154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E1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idea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3504" y="349300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AI is more than a model: it is a lifecycle of APIs, containers, CI/CD, cloud runtime, security, monitoring, optimization and continuous improvement.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621792" y="4526280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" y="4544568"/>
            <a:ext cx="1216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E1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194560" y="4526280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49424" y="4544568"/>
            <a:ext cx="1216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4C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767328" y="4526280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22192" y="4544568"/>
            <a:ext cx="1216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6A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CI/CD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340096" y="4526280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94960" y="4544568"/>
            <a:ext cx="1216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6E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AI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912864" y="4526280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67728" y="4544568"/>
            <a:ext cx="1216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E1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485632" y="4526280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40496" y="4544568"/>
            <a:ext cx="1216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4C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Kubernetes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0058400" y="4526280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113264" y="4544568"/>
            <a:ext cx="1216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6A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66928" y="619963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A84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Official EduSkills Internship Offer Letter and Course/Internship Certificate.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Organization &amp; Program Context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85216" y="1033272"/>
            <a:ext cx="1051560" cy="0"/>
          </a:xfrm>
          <a:prstGeom prst="line">
            <a:avLst/>
          </a:prstGeom>
          <a:noFill/>
          <a:ln w="31750">
            <a:solidFill>
              <a:srgbClr val="8E183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3504" y="1417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8E1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EduSkills Foundation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03504" y="193852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AICTE – EduSkills Virtual Internship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03504" y="2450592"/>
            <a:ext cx="4069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85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internship was designed as a structured, industry-oriented learning journey with practical exposure, assessments and project-based learning.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0" y="1417320"/>
            <a:ext cx="329184" cy="329184"/>
          </a:xfrm>
          <a:prstGeom prst="ellipse">
            <a:avLst/>
          </a:prstGeom>
          <a:solidFill>
            <a:srgbClr val="244C7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50992" y="1746504"/>
            <a:ext cx="0" cy="585216"/>
          </a:xfrm>
          <a:prstGeom prst="line">
            <a:avLst/>
          </a:prstGeom>
          <a:noFill/>
          <a:ln w="19050">
            <a:solidFill>
              <a:srgbClr val="C7D0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53328" y="13990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&amp; Selection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53328" y="1673352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Offer letter / verification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0" y="2331720"/>
            <a:ext cx="329184" cy="329184"/>
          </a:xfrm>
          <a:prstGeom prst="ellipse">
            <a:avLst/>
          </a:prstGeom>
          <a:solidFill>
            <a:srgbClr val="244C7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50992" y="2660904"/>
            <a:ext cx="0" cy="585216"/>
          </a:xfrm>
          <a:prstGeom prst="line">
            <a:avLst/>
          </a:prstGeom>
          <a:noFill/>
          <a:ln w="19050">
            <a:solidFill>
              <a:srgbClr val="C7D0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53328" y="23134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8-Week Learning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53328" y="2587752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Week-wise technical modules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0" y="3246120"/>
            <a:ext cx="329184" cy="329184"/>
          </a:xfrm>
          <a:prstGeom prst="ellipse">
            <a:avLst/>
          </a:prstGeom>
          <a:solidFill>
            <a:srgbClr val="244C7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50992" y="3575304"/>
            <a:ext cx="0" cy="585216"/>
          </a:xfrm>
          <a:prstGeom prst="line">
            <a:avLst/>
          </a:prstGeom>
          <a:noFill/>
          <a:ln w="19050">
            <a:solidFill>
              <a:srgbClr val="C7D0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53328" y="32278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Assignments &amp; Assessments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053328" y="3502152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Progress tracked through the program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0" y="4160520"/>
            <a:ext cx="329184" cy="329184"/>
          </a:xfrm>
          <a:prstGeom prst="ellipse">
            <a:avLst/>
          </a:prstGeom>
          <a:solidFill>
            <a:srgbClr val="244C7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50992" y="4489704"/>
            <a:ext cx="0" cy="585216"/>
          </a:xfrm>
          <a:prstGeom prst="line">
            <a:avLst/>
          </a:prstGeom>
          <a:noFill/>
          <a:ln w="19050">
            <a:solidFill>
              <a:srgbClr val="C7D0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53328" y="41422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Assessment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053328" y="4416552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Final-week assessment test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0" y="5074920"/>
            <a:ext cx="329184" cy="329184"/>
          </a:xfrm>
          <a:prstGeom prst="ellipse">
            <a:avLst/>
          </a:prstGeom>
          <a:solidFill>
            <a:srgbClr val="8E183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53328" y="50566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Credential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053328" y="5330952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Completion certificate after requirements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03504" y="4828032"/>
            <a:ext cx="2331720" cy="310896"/>
          </a:xfrm>
          <a:prstGeom prst="roundRect">
            <a:avLst>
              <a:gd name="adj" fmla="val 17647"/>
            </a:avLst>
          </a:prstGeom>
          <a:solidFill>
            <a:srgbClr val="F5E7EC"/>
          </a:solidFill>
          <a:ln w="12700">
            <a:solidFill>
              <a:srgbClr val="F5E7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4846320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E1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JUNE 2026 – AUGUST 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66928" y="619963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A84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Offer letter states the program was an 8-week AICTE – EduSkills Virtual Internship and specifies the internship duration as June 2026–August 2026.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Objectives of the Internship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85216" y="1033272"/>
            <a:ext cx="1051560" cy="0"/>
          </a:xfrm>
          <a:prstGeom prst="line">
            <a:avLst/>
          </a:prstGeom>
          <a:noFill/>
          <a:ln w="31750">
            <a:solidFill>
              <a:srgbClr val="8E183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3504" y="1472184"/>
            <a:ext cx="475488" cy="475488"/>
          </a:xfrm>
          <a:prstGeom prst="ellipse">
            <a:avLst/>
          </a:prstGeom>
          <a:solidFill>
            <a:srgbClr val="8E183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517904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89304" y="1417320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 the AI deployment lifecycle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289304" y="180136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8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development and validation to serving and operations.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089904" y="1472184"/>
            <a:ext cx="475488" cy="475488"/>
          </a:xfrm>
          <a:prstGeom prst="ellipse">
            <a:avLst/>
          </a:prstGeom>
          <a:solidFill>
            <a:srgbClr val="244C7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89904" y="1517904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775704" y="1417320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production-oriented API skills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775704" y="180136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8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FastAPI to expose model or AI functionality.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" y="2889504"/>
            <a:ext cx="475488" cy="475488"/>
          </a:xfrm>
          <a:prstGeom prst="ellipse">
            <a:avLst/>
          </a:prstGeom>
          <a:solidFill>
            <a:srgbClr val="8E183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" y="2935224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89304" y="2834640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 delivery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289304" y="321868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8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Docker, MLOps and CI/CD concepts.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89904" y="2889504"/>
            <a:ext cx="475488" cy="475488"/>
          </a:xfrm>
          <a:prstGeom prst="ellipse">
            <a:avLst/>
          </a:prstGeom>
          <a:solidFill>
            <a:srgbClr val="244C7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9904" y="2935224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775704" y="2834640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Explore cloud AI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775704" y="321868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8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Study managed AI deployment platforms and serving patterns.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3504" y="4306824"/>
            <a:ext cx="475488" cy="475488"/>
          </a:xfrm>
          <a:prstGeom prst="ellipse">
            <a:avLst/>
          </a:prstGeom>
          <a:solidFill>
            <a:srgbClr val="8E183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" y="4352544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89304" y="4251960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 agentic workflows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289304" y="463600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8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LangChain, LlamaIndex and LangGraph concepts.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89904" y="4306824"/>
            <a:ext cx="475488" cy="475488"/>
          </a:xfrm>
          <a:prstGeom prst="ellipse">
            <a:avLst/>
          </a:prstGeom>
          <a:solidFill>
            <a:srgbClr val="244C7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89904" y="4352544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775704" y="4251960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Operate AI responsibly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6775704" y="463600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86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 security, privacy, observability, drift and optimization.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6928" y="619963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A84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Derived from the official 8-week learning structure and the competencies listed on the completion certificate.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8-Week Learning Roadmap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85216" y="1033272"/>
            <a:ext cx="1051560" cy="0"/>
          </a:xfrm>
          <a:prstGeom prst="line">
            <a:avLst/>
          </a:prstGeom>
          <a:noFill/>
          <a:ln w="31750">
            <a:solidFill>
              <a:srgbClr val="8E183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107899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official weekly module structure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03504" y="1335024"/>
            <a:ext cx="5102352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3504" y="1335024"/>
            <a:ext cx="612648" cy="914400"/>
          </a:xfrm>
          <a:prstGeom prst="rect">
            <a:avLst/>
          </a:prstGeom>
          <a:solidFill>
            <a:srgbClr val="182B4A"/>
          </a:solidFill>
          <a:ln w="12700">
            <a:solidFill>
              <a:srgbClr val="182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" y="153619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26464" y="144475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Deployment Foundations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426464" y="1755648"/>
            <a:ext cx="39502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72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model serving • production readiness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089904" y="1335024"/>
            <a:ext cx="5102352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89904" y="1335024"/>
            <a:ext cx="612648" cy="914400"/>
          </a:xfrm>
          <a:prstGeom prst="rect">
            <a:avLst/>
          </a:prstGeom>
          <a:solidFill>
            <a:srgbClr val="182B4A"/>
          </a:solidFill>
          <a:ln w="12700">
            <a:solidFill>
              <a:srgbClr val="182B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35624" y="153619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12864" y="144475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Containerization &amp; CI/CD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912864" y="1755648"/>
            <a:ext cx="39502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72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• MLOps • pipeline automation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3504" y="2450592"/>
            <a:ext cx="5102352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" y="2450592"/>
            <a:ext cx="612648" cy="914400"/>
          </a:xfrm>
          <a:prstGeom prst="rect">
            <a:avLst/>
          </a:prstGeom>
          <a:solidFill>
            <a:srgbClr val="182B4A"/>
          </a:solidFill>
          <a:ln w="12700">
            <a:solidFill>
              <a:srgbClr val="182B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" y="26517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26464" y="25603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AI &amp; GenAI Serving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426464" y="2871216"/>
            <a:ext cx="39502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72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SageMaker • Vertex AI • Azure ML • vLLM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89904" y="2450592"/>
            <a:ext cx="5102352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9904" y="2450592"/>
            <a:ext cx="612648" cy="914400"/>
          </a:xfrm>
          <a:prstGeom prst="rect">
            <a:avLst/>
          </a:prstGeom>
          <a:solidFill>
            <a:srgbClr val="182B4A"/>
          </a:solidFill>
          <a:ln w="12700">
            <a:solidFill>
              <a:srgbClr val="182B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35624" y="26517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12864" y="25603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Agents &amp; Automation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912864" y="2871216"/>
            <a:ext cx="39502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72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LangChain • LlamaIndex • LangGraph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3504" y="3566160"/>
            <a:ext cx="5102352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3504" y="3566160"/>
            <a:ext cx="612648" cy="914400"/>
          </a:xfrm>
          <a:prstGeom prst="rect">
            <a:avLst/>
          </a:prstGeom>
          <a:solidFill>
            <a:srgbClr val="8E1831"/>
          </a:solidFill>
          <a:ln w="12700">
            <a:solidFill>
              <a:srgbClr val="8E183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" y="376732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426464" y="367588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Integration &amp; Security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426464" y="3986784"/>
            <a:ext cx="39502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72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Streamlit • Gradio • privacy • bias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89904" y="3566160"/>
            <a:ext cx="5102352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89904" y="3566160"/>
            <a:ext cx="612648" cy="914400"/>
          </a:xfrm>
          <a:prstGeom prst="rect">
            <a:avLst/>
          </a:prstGeom>
          <a:solidFill>
            <a:srgbClr val="8E1831"/>
          </a:solidFill>
          <a:ln w="12700">
            <a:solidFill>
              <a:srgbClr val="8E183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35624" y="376732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912864" y="367588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Kubernetes &amp; Observability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912864" y="3986784"/>
            <a:ext cx="39502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72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Pods • Deployments • Services • Prometheus • Grafana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03504" y="4681728"/>
            <a:ext cx="5102352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" y="4681728"/>
            <a:ext cx="612648" cy="914400"/>
          </a:xfrm>
          <a:prstGeom prst="rect">
            <a:avLst/>
          </a:prstGeom>
          <a:solidFill>
            <a:srgbClr val="8E1831"/>
          </a:solidFill>
          <a:ln w="12700">
            <a:solidFill>
              <a:srgbClr val="8E183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" y="488289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426464" y="479145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Optimization, Drift &amp; RAG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1426464" y="5102352"/>
            <a:ext cx="39502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72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 • tuning • Evidently AI • advanced RAG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089904" y="4681728"/>
            <a:ext cx="5102352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089904" y="4681728"/>
            <a:ext cx="612648" cy="914400"/>
          </a:xfrm>
          <a:prstGeom prst="rect">
            <a:avLst/>
          </a:prstGeom>
          <a:solidFill>
            <a:srgbClr val="8E1831"/>
          </a:solidFill>
          <a:ln w="12700">
            <a:solidFill>
              <a:srgbClr val="8E183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35624" y="488289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912864" y="479145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&amp; Capstone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6912864" y="5102352"/>
            <a:ext cx="39502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72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app • business automation • end-to-end AI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66928" y="619963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A84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Week-wise structure reproduced from the official EduSkills internship offer letter.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Deployment Lifecycle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85216" y="1033272"/>
            <a:ext cx="1051560" cy="0"/>
          </a:xfrm>
          <a:prstGeom prst="line">
            <a:avLst/>
          </a:prstGeom>
          <a:noFill/>
          <a:ln w="31750">
            <a:solidFill>
              <a:srgbClr val="8E183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107899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code and model artifacts to a monitored service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923544" y="1828800"/>
            <a:ext cx="658368" cy="658368"/>
          </a:xfrm>
          <a:prstGeom prst="ellipse">
            <a:avLst/>
          </a:prstGeom>
          <a:solidFill>
            <a:srgbClr val="8E183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23544" y="199339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6974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02666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72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/ app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837944" y="1993392"/>
            <a:ext cx="292608" cy="274320"/>
          </a:xfrm>
          <a:prstGeom prst="chevron">
            <a:avLst/>
          </a:prstGeom>
          <a:solidFill>
            <a:srgbClr val="C7D0DF"/>
          </a:solidFill>
          <a:ln w="12700">
            <a:solidFill>
              <a:srgbClr val="C7D0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87752" y="1828800"/>
            <a:ext cx="658368" cy="658368"/>
          </a:xfrm>
          <a:prstGeom prst="ellipse">
            <a:avLst/>
          </a:prstGeom>
          <a:solidFill>
            <a:srgbClr val="244C7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87752" y="199339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167128" y="26974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67128" y="302666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72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502152" y="1993392"/>
            <a:ext cx="292608" cy="274320"/>
          </a:xfrm>
          <a:prstGeom prst="chevron">
            <a:avLst/>
          </a:prstGeom>
          <a:solidFill>
            <a:srgbClr val="C7D0DF"/>
          </a:solidFill>
          <a:ln w="12700">
            <a:solidFill>
              <a:srgbClr val="C7D0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51960" y="1828800"/>
            <a:ext cx="658368" cy="658368"/>
          </a:xfrm>
          <a:prstGeom prst="ellipse">
            <a:avLst/>
          </a:prstGeom>
          <a:solidFill>
            <a:srgbClr val="8E183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51960" y="199339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831336" y="26974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Package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831336" y="302666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72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166360" y="1993392"/>
            <a:ext cx="292608" cy="274320"/>
          </a:xfrm>
          <a:prstGeom prst="chevron">
            <a:avLst/>
          </a:prstGeom>
          <a:solidFill>
            <a:srgbClr val="C7D0DF"/>
          </a:solidFill>
          <a:ln w="12700">
            <a:solidFill>
              <a:srgbClr val="C7D0D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16168" y="1828800"/>
            <a:ext cx="658368" cy="658368"/>
          </a:xfrm>
          <a:prstGeom prst="ellipse">
            <a:avLst/>
          </a:prstGeom>
          <a:solidFill>
            <a:srgbClr val="244C7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16168" y="199339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95544" y="26974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95544" y="302666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72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CI/CD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830568" y="1993392"/>
            <a:ext cx="292608" cy="274320"/>
          </a:xfrm>
          <a:prstGeom prst="chevron">
            <a:avLst/>
          </a:prstGeom>
          <a:solidFill>
            <a:srgbClr val="C7D0DF"/>
          </a:solidFill>
          <a:ln w="12700">
            <a:solidFill>
              <a:srgbClr val="C7D0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80376" y="1828800"/>
            <a:ext cx="658368" cy="658368"/>
          </a:xfrm>
          <a:prstGeom prst="ellipse">
            <a:avLst/>
          </a:prstGeom>
          <a:solidFill>
            <a:srgbClr val="8E183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0376" y="199339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159752" y="26974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159752" y="302666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72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/ K8s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494776" y="1993392"/>
            <a:ext cx="292608" cy="274320"/>
          </a:xfrm>
          <a:prstGeom prst="chevron">
            <a:avLst/>
          </a:prstGeom>
          <a:solidFill>
            <a:srgbClr val="C7D0DF"/>
          </a:solidFill>
          <a:ln w="12700">
            <a:solidFill>
              <a:srgbClr val="C7D0D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244584" y="1828800"/>
            <a:ext cx="658368" cy="658368"/>
          </a:xfrm>
          <a:prstGeom prst="ellipse">
            <a:avLst/>
          </a:prstGeom>
          <a:solidFill>
            <a:srgbClr val="244C7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44584" y="199339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823960" y="26974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823960" y="302666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72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Metrics / logs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0158984" y="1993392"/>
            <a:ext cx="292608" cy="274320"/>
          </a:xfrm>
          <a:prstGeom prst="chevron">
            <a:avLst/>
          </a:prstGeom>
          <a:solidFill>
            <a:srgbClr val="C7D0DF"/>
          </a:solidFill>
          <a:ln w="12700">
            <a:solidFill>
              <a:srgbClr val="C7D0D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908792" y="1828800"/>
            <a:ext cx="658368" cy="658368"/>
          </a:xfrm>
          <a:prstGeom prst="ellipse">
            <a:avLst/>
          </a:prstGeom>
          <a:solidFill>
            <a:srgbClr val="8E183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908792" y="199339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0488168" y="26974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0488168" y="302666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72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Tune / retrain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58368" y="4224528"/>
            <a:ext cx="34747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8368" y="4224528"/>
            <a:ext cx="73152" cy="1051560"/>
          </a:xfrm>
          <a:prstGeom prst="rect">
            <a:avLst/>
          </a:prstGeom>
          <a:solidFill>
            <a:srgbClr val="8E1831"/>
          </a:solidFill>
          <a:ln w="12700">
            <a:solidFill>
              <a:srgbClr val="8E183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9536" y="4389120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automation matters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59536" y="4791456"/>
            <a:ext cx="31272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485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Repeatable builds, fewer manual errors, faster releases and consistent environments.</a:t>
            </a:r>
            <a:endParaRPr lang="en-US" sz="1120" dirty="0"/>
          </a:p>
        </p:txBody>
      </p:sp>
      <p:sp>
        <p:nvSpPr>
          <p:cNvPr id="43" name="Shape 41"/>
          <p:cNvSpPr/>
          <p:nvPr/>
        </p:nvSpPr>
        <p:spPr>
          <a:xfrm>
            <a:off x="4389120" y="4224528"/>
            <a:ext cx="34747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389120" y="4224528"/>
            <a:ext cx="73152" cy="1051560"/>
          </a:xfrm>
          <a:prstGeom prst="rect">
            <a:avLst/>
          </a:prstGeom>
          <a:solidFill>
            <a:srgbClr val="244C74"/>
          </a:solidFill>
          <a:ln w="12700">
            <a:solidFill>
              <a:srgbClr val="244C7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90288" y="4389120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observability matters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4590288" y="4791456"/>
            <a:ext cx="31272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485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 checks, metrics and logs help detect failures and understand runtime behaviour.</a:t>
            </a:r>
            <a:endParaRPr lang="en-US" sz="1120" dirty="0"/>
          </a:p>
        </p:txBody>
      </p:sp>
      <p:sp>
        <p:nvSpPr>
          <p:cNvPr id="47" name="Shape 45"/>
          <p:cNvSpPr/>
          <p:nvPr/>
        </p:nvSpPr>
        <p:spPr>
          <a:xfrm>
            <a:off x="8119872" y="4224528"/>
            <a:ext cx="34747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119872" y="4224528"/>
            <a:ext cx="73152" cy="1051560"/>
          </a:xfrm>
          <a:prstGeom prst="rect">
            <a:avLst/>
          </a:prstGeom>
          <a:solidFill>
            <a:srgbClr val="4B6E52"/>
          </a:solidFill>
          <a:ln w="12700">
            <a:solidFill>
              <a:srgbClr val="4B6E5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321040" y="4389120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optimization matters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321040" y="4791456"/>
            <a:ext cx="31272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485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systems evolve through tuning, cost management, drift detection and retraining.</a:t>
            </a:r>
            <a:endParaRPr lang="en-US" sz="1120" dirty="0"/>
          </a:p>
        </p:txBody>
      </p:sp>
      <p:sp>
        <p:nvSpPr>
          <p:cNvPr id="51" name="Text 49"/>
          <p:cNvSpPr/>
          <p:nvPr/>
        </p:nvSpPr>
        <p:spPr>
          <a:xfrm>
            <a:off x="566928" y="619963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A84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shown as a synthesized representation of the concepts covered across the official internship modules.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Model Serving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85216" y="1033272"/>
            <a:ext cx="1051560" cy="0"/>
          </a:xfrm>
          <a:prstGeom prst="line">
            <a:avLst/>
          </a:prstGeom>
          <a:noFill/>
          <a:ln w="31750">
            <a:solidFill>
              <a:srgbClr val="8E183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107899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1 • turning AI logic into an application service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187452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6928" y="2395728"/>
            <a:ext cx="1188720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B7C1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551176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4C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965960" y="2487168"/>
            <a:ext cx="420624" cy="365760"/>
          </a:xfrm>
          <a:prstGeom prst="chevron">
            <a:avLst/>
          </a:prstGeom>
          <a:solidFill>
            <a:srgbClr val="C7D0DF"/>
          </a:solidFill>
          <a:ln w="12700">
            <a:solidFill>
              <a:srgbClr val="C7D0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14600" y="1527048"/>
            <a:ext cx="292608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4600" y="1527048"/>
            <a:ext cx="73152" cy="2331720"/>
          </a:xfrm>
          <a:prstGeom prst="rect">
            <a:avLst/>
          </a:prstGeom>
          <a:solidFill>
            <a:srgbClr val="244C74"/>
          </a:solidFill>
          <a:ln w="12700">
            <a:solidFill>
              <a:srgbClr val="244C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15768" y="1691640"/>
            <a:ext cx="2596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Service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15768" y="2093976"/>
            <a:ext cx="2578608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485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API endpoint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485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Input validation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485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Async operations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485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Model integration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5650992" y="2487168"/>
            <a:ext cx="420624" cy="365760"/>
          </a:xfrm>
          <a:prstGeom prst="chevron">
            <a:avLst/>
          </a:prstGeom>
          <a:solidFill>
            <a:srgbClr val="C7D0DF"/>
          </a:solidFill>
          <a:ln w="12700">
            <a:solidFill>
              <a:srgbClr val="C7D0D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99632" y="1527048"/>
            <a:ext cx="2286000" cy="233172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99632" y="1527048"/>
            <a:ext cx="73152" cy="2331720"/>
          </a:xfrm>
          <a:prstGeom prst="rect">
            <a:avLst/>
          </a:prstGeom>
          <a:solidFill>
            <a:srgbClr val="8E1831"/>
          </a:solidFill>
          <a:ln w="12700">
            <a:solidFill>
              <a:srgbClr val="8E183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691640"/>
            <a:ext cx="1956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Model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0" y="2093976"/>
            <a:ext cx="1938528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485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Inference / prediction / generation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8851392" y="2487168"/>
            <a:ext cx="420624" cy="365760"/>
          </a:xfrm>
          <a:prstGeom prst="chevron">
            <a:avLst/>
          </a:prstGeom>
          <a:solidFill>
            <a:srgbClr val="C7D0DF"/>
          </a:solidFill>
          <a:ln w="12700">
            <a:solidFill>
              <a:srgbClr val="C7D0D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400032" y="1527048"/>
            <a:ext cx="2057400" cy="233172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00032" y="1527048"/>
            <a:ext cx="73152" cy="2331720"/>
          </a:xfrm>
          <a:prstGeom prst="rect">
            <a:avLst/>
          </a:prstGeom>
          <a:solidFill>
            <a:srgbClr val="4B6E52"/>
          </a:solidFill>
          <a:ln w="12700">
            <a:solidFill>
              <a:srgbClr val="4B6E5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0" y="1691640"/>
            <a:ext cx="1728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01200" y="2093976"/>
            <a:ext cx="1709928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485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 / result / output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658368" y="43616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E1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learning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8368" y="4645152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AI model becomes useful to other systems when it can be consumed reliably through an application interface.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566928" y="619963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A84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Week 1 official module — AI Deployment Foundations &amp; FastAPI Model Serving.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+ CI/CD for MLOps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85216" y="1033272"/>
            <a:ext cx="1051560" cy="0"/>
          </a:xfrm>
          <a:prstGeom prst="line">
            <a:avLst/>
          </a:prstGeom>
          <a:noFill/>
          <a:ln w="31750">
            <a:solidFill>
              <a:srgbClr val="8E183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107899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2 • reproducible packaging and automated delivery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965960" cy="1005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828800"/>
            <a:ext cx="1965960" cy="128016"/>
          </a:xfrm>
          <a:prstGeom prst="rect">
            <a:avLst/>
          </a:prstGeom>
          <a:solidFill>
            <a:srgbClr val="182B4A"/>
          </a:solidFill>
          <a:ln w="12700">
            <a:solidFill>
              <a:srgbClr val="182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05740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82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13232" y="235915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 / code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78608" y="2148840"/>
            <a:ext cx="246888" cy="274320"/>
          </a:xfrm>
          <a:prstGeom prst="chevron">
            <a:avLst/>
          </a:prstGeom>
          <a:solidFill>
            <a:srgbClr val="B9C4D5"/>
          </a:solidFill>
          <a:ln w="12700">
            <a:solidFill>
              <a:srgbClr val="B9C4D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80360" y="1828800"/>
            <a:ext cx="1965960" cy="1005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80360" y="1828800"/>
            <a:ext cx="1965960" cy="128016"/>
          </a:xfrm>
          <a:prstGeom prst="rect">
            <a:avLst/>
          </a:prstGeom>
          <a:solidFill>
            <a:srgbClr val="8E1831"/>
          </a:solidFill>
          <a:ln w="12700">
            <a:solidFill>
              <a:srgbClr val="8E18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26664" y="205740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E1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026664" y="235915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Dockerfile → Image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92040" y="2148840"/>
            <a:ext cx="246888" cy="274320"/>
          </a:xfrm>
          <a:prstGeom prst="chevron">
            <a:avLst/>
          </a:prstGeom>
          <a:solidFill>
            <a:srgbClr val="B9C4D5"/>
          </a:solidFill>
          <a:ln w="12700">
            <a:solidFill>
              <a:srgbClr val="B9C4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93792" y="1828800"/>
            <a:ext cx="1965960" cy="1005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93792" y="1828800"/>
            <a:ext cx="1965960" cy="128016"/>
          </a:xfrm>
          <a:prstGeom prst="rect">
            <a:avLst/>
          </a:prstGeom>
          <a:solidFill>
            <a:srgbClr val="244C74"/>
          </a:solidFill>
          <a:ln w="12700">
            <a:solidFill>
              <a:srgbClr val="244C7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40096" y="205740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44C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40096" y="235915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/ tests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205472" y="2148840"/>
            <a:ext cx="246888" cy="274320"/>
          </a:xfrm>
          <a:prstGeom prst="chevron">
            <a:avLst/>
          </a:prstGeom>
          <a:solidFill>
            <a:srgbClr val="B9C4D5"/>
          </a:solidFill>
          <a:ln w="12700">
            <a:solidFill>
              <a:srgbClr val="B9C4D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07224" y="1828800"/>
            <a:ext cx="1965960" cy="1005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07224" y="1828800"/>
            <a:ext cx="1965960" cy="128016"/>
          </a:xfrm>
          <a:prstGeom prst="rect">
            <a:avLst/>
          </a:prstGeom>
          <a:solidFill>
            <a:srgbClr val="5A6A7E"/>
          </a:solidFill>
          <a:ln w="12700">
            <a:solidFill>
              <a:srgbClr val="5A6A7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53528" y="205740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A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653528" y="235915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Container registry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518904" y="2148840"/>
            <a:ext cx="246888" cy="274320"/>
          </a:xfrm>
          <a:prstGeom prst="chevron">
            <a:avLst/>
          </a:prstGeom>
          <a:solidFill>
            <a:srgbClr val="B9C4D5"/>
          </a:solidFill>
          <a:ln w="12700">
            <a:solidFill>
              <a:srgbClr val="B9C4D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20656" y="1828800"/>
            <a:ext cx="1965960" cy="1005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820656" y="1828800"/>
            <a:ext cx="1965960" cy="128016"/>
          </a:xfrm>
          <a:prstGeom prst="rect">
            <a:avLst/>
          </a:prstGeom>
          <a:solidFill>
            <a:srgbClr val="4B6E52"/>
          </a:solidFill>
          <a:ln w="12700">
            <a:solidFill>
              <a:srgbClr val="4B6E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966960" y="205740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B6E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966960" y="235915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/ service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94944" y="3337560"/>
            <a:ext cx="512064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4944" y="3337560"/>
            <a:ext cx="73152" cy="1325880"/>
          </a:xfrm>
          <a:prstGeom prst="rect">
            <a:avLst/>
          </a:prstGeom>
          <a:solidFill>
            <a:srgbClr val="8E1831"/>
          </a:solidFill>
          <a:ln w="12700">
            <a:solidFill>
              <a:srgbClr val="8E183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6112" y="3502152"/>
            <a:ext cx="4791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96112" y="3904488"/>
            <a:ext cx="47731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485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Containers package application code and dependencies into a portable runtime, helping reduce environment inconsistency.</a:t>
            </a:r>
            <a:endParaRPr lang="en-US" sz="1120" dirty="0"/>
          </a:p>
        </p:txBody>
      </p:sp>
      <p:sp>
        <p:nvSpPr>
          <p:cNvPr id="33" name="Shape 31"/>
          <p:cNvSpPr/>
          <p:nvPr/>
        </p:nvSpPr>
        <p:spPr>
          <a:xfrm>
            <a:off x="6053328" y="3337560"/>
            <a:ext cx="512064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53328" y="3337560"/>
            <a:ext cx="73152" cy="1325880"/>
          </a:xfrm>
          <a:prstGeom prst="rect">
            <a:avLst/>
          </a:prstGeom>
          <a:solidFill>
            <a:srgbClr val="244C74"/>
          </a:solidFill>
          <a:ln w="12700">
            <a:solidFill>
              <a:srgbClr val="244C7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54496" y="3502152"/>
            <a:ext cx="4791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CI/CD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254496" y="3904488"/>
            <a:ext cx="47731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485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Automated pipelines validate changes, build artifacts and support repeatable delivery of AI applications.</a:t>
            </a:r>
            <a:endParaRPr lang="en-US" sz="1120" dirty="0"/>
          </a:p>
        </p:txBody>
      </p:sp>
      <p:sp>
        <p:nvSpPr>
          <p:cNvPr id="37" name="Shape 35"/>
          <p:cNvSpPr/>
          <p:nvPr/>
        </p:nvSpPr>
        <p:spPr>
          <a:xfrm>
            <a:off x="960120" y="5074920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F5E7EC"/>
          </a:solidFill>
          <a:ln w="12700">
            <a:solidFill>
              <a:srgbClr val="F5E7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14984" y="5093208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E1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REPEATABLE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514600" y="5074920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E9EEF8"/>
          </a:solidFill>
          <a:ln w="12700">
            <a:solidFill>
              <a:srgbClr val="E9EEF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69464" y="5093208"/>
            <a:ext cx="1124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4C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PORTABLE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931920" y="5074920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E8F1EB"/>
          </a:solidFill>
          <a:ln w="12700">
            <a:solidFill>
              <a:srgbClr val="E8F1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986784" y="5093208"/>
            <a:ext cx="1216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6E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AUTOMATED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394192" y="5074920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E9EDF1"/>
          </a:solidFill>
          <a:ln w="12700">
            <a:solidFill>
              <a:srgbClr val="E9EDF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49056" y="5093208"/>
            <a:ext cx="1307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6A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66928" y="619963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A84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Week 2 official module — Containerization &amp; CI/CD for MLOps.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AI Deployment &amp; Generative AI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85216" y="1033272"/>
            <a:ext cx="1051560" cy="0"/>
          </a:xfrm>
          <a:prstGeom prst="line">
            <a:avLst/>
          </a:prstGeom>
          <a:noFill/>
          <a:ln w="31750">
            <a:solidFill>
              <a:srgbClr val="8E183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107899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3 • scalable serving and LLM considerations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1508760"/>
            <a:ext cx="34290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508760"/>
            <a:ext cx="73152" cy="1188720"/>
          </a:xfrm>
          <a:prstGeom prst="rect">
            <a:avLst/>
          </a:prstGeom>
          <a:solidFill>
            <a:srgbClr val="8E1831"/>
          </a:solidFill>
          <a:ln w="12700">
            <a:solidFill>
              <a:srgbClr val="8E183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673352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Amazon SageMaker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95528" y="2075688"/>
            <a:ext cx="3081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485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Managed AI/ML deployment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4389120" y="1508760"/>
            <a:ext cx="34290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1508760"/>
            <a:ext cx="73152" cy="1188720"/>
          </a:xfrm>
          <a:prstGeom prst="rect">
            <a:avLst/>
          </a:prstGeom>
          <a:solidFill>
            <a:srgbClr val="244C74"/>
          </a:solidFill>
          <a:ln w="12700">
            <a:solidFill>
              <a:srgbClr val="244C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0288" y="1673352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Google Vertex AI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90288" y="2075688"/>
            <a:ext cx="3081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485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Managed AI/ML deployment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8183880" y="1508760"/>
            <a:ext cx="34290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83880" y="1508760"/>
            <a:ext cx="73152" cy="1188720"/>
          </a:xfrm>
          <a:prstGeom prst="rect">
            <a:avLst/>
          </a:prstGeom>
          <a:solidFill>
            <a:srgbClr val="4B6E52"/>
          </a:solidFill>
          <a:ln w="12700">
            <a:solidFill>
              <a:srgbClr val="4B6E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85048" y="1673352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Machine Learning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85048" y="2075688"/>
            <a:ext cx="3081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485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Managed AI/ML deployment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621792" y="31546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Generative AI serving considerations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58368" y="3767328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7D0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87705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1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25296" y="37490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resource requirements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145536" y="3767328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7D0D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45536" y="387705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1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712464" y="37490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Latency &amp; throughput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32704" y="3767328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7D0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32704" y="387705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1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99632" y="37490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vLLM serving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119872" y="3767328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7D0D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19872" y="387705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1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686800" y="37490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quantization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1792" y="488289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E1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21792" y="5157216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deployment choices and efficient serving techniques become critical when AI workloads grow in size or complexity.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66928" y="619963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A84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Week 3 official module — Cloud AI Deployment &amp; Generative AI Serving.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Agents &amp; Automation Workflows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85216" y="1033272"/>
            <a:ext cx="1051560" cy="0"/>
          </a:xfrm>
          <a:prstGeom prst="line">
            <a:avLst/>
          </a:prstGeom>
          <a:noFill/>
          <a:ln w="31750">
            <a:solidFill>
              <a:srgbClr val="8E183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107899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4 • moving from answers to actions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164592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207568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1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86968" y="239572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/ event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523744" y="2267712"/>
            <a:ext cx="228600" cy="274320"/>
          </a:xfrm>
          <a:prstGeom prst="chevron">
            <a:avLst/>
          </a:prstGeom>
          <a:solidFill>
            <a:srgbClr val="C7D0DF"/>
          </a:solidFill>
          <a:ln w="12700">
            <a:solidFill>
              <a:srgbClr val="C7D0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34640" y="1874520"/>
            <a:ext cx="164592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207568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4C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44368" y="239572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 + plan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81144" y="2267712"/>
            <a:ext cx="228600" cy="274320"/>
          </a:xfrm>
          <a:prstGeom prst="chevron">
            <a:avLst/>
          </a:prstGeom>
          <a:solidFill>
            <a:srgbClr val="C7D0DF"/>
          </a:solidFill>
          <a:ln w="12700">
            <a:solidFill>
              <a:srgbClr val="C7D0D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1874520"/>
            <a:ext cx="164592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01768" y="207568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1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01768" y="239572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APIs / systems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638544" y="2267712"/>
            <a:ext cx="228600" cy="274320"/>
          </a:xfrm>
          <a:prstGeom prst="chevron">
            <a:avLst/>
          </a:prstGeom>
          <a:solidFill>
            <a:srgbClr val="C7D0DF"/>
          </a:solidFill>
          <a:ln w="12700">
            <a:solidFill>
              <a:srgbClr val="C7D0D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49440" y="1874520"/>
            <a:ext cx="164592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59168" y="207568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4C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ORCHESTRATE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059168" y="239572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LangGraph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695944" y="2267712"/>
            <a:ext cx="228600" cy="274320"/>
          </a:xfrm>
          <a:prstGeom prst="chevron">
            <a:avLst/>
          </a:prstGeom>
          <a:solidFill>
            <a:srgbClr val="C7D0DF"/>
          </a:solidFill>
          <a:ln w="12700">
            <a:solidFill>
              <a:srgbClr val="C7D0D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06840" y="1874520"/>
            <a:ext cx="164592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16568" y="207568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1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16568" y="239572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outcome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13232" y="3703320"/>
            <a:ext cx="324612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" y="3703320"/>
            <a:ext cx="73152" cy="1188720"/>
          </a:xfrm>
          <a:prstGeom prst="rect">
            <a:avLst/>
          </a:prstGeom>
          <a:solidFill>
            <a:srgbClr val="8E1831"/>
          </a:solidFill>
          <a:ln w="12700">
            <a:solidFill>
              <a:srgbClr val="8E183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3867912"/>
            <a:ext cx="2916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LangChain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14400" y="4270248"/>
            <a:ext cx="2898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485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Framework concepts for building AI agents and tool-using workflows.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4462272" y="3703320"/>
            <a:ext cx="324612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62272" y="3703320"/>
            <a:ext cx="73152" cy="1188720"/>
          </a:xfrm>
          <a:prstGeom prst="rect">
            <a:avLst/>
          </a:prstGeom>
          <a:solidFill>
            <a:srgbClr val="244C74"/>
          </a:solidFill>
          <a:ln w="12700">
            <a:solidFill>
              <a:srgbClr val="244C7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3867912"/>
            <a:ext cx="2916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LlamaIndex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663440" y="4270248"/>
            <a:ext cx="2898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485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models and agents with external data and knowledge sources.</a:t>
            </a:r>
            <a:endParaRPr lang="en-US" sz="1120" dirty="0"/>
          </a:p>
        </p:txBody>
      </p:sp>
      <p:sp>
        <p:nvSpPr>
          <p:cNvPr id="32" name="Shape 30"/>
          <p:cNvSpPr/>
          <p:nvPr/>
        </p:nvSpPr>
        <p:spPr>
          <a:xfrm>
            <a:off x="8211312" y="3703320"/>
            <a:ext cx="324612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11312" y="3703320"/>
            <a:ext cx="73152" cy="1188720"/>
          </a:xfrm>
          <a:prstGeom prst="rect">
            <a:avLst/>
          </a:prstGeom>
          <a:solidFill>
            <a:srgbClr val="4B6E52"/>
          </a:solidFill>
          <a:ln w="12700">
            <a:solidFill>
              <a:srgbClr val="4B6E5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12480" y="3867912"/>
            <a:ext cx="2916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LangGraph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412480" y="4270248"/>
            <a:ext cx="2898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485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orchestration for multi-step agent workflows.</a:t>
            </a:r>
            <a:endParaRPr lang="en-US" sz="1120" dirty="0"/>
          </a:p>
        </p:txBody>
      </p:sp>
      <p:sp>
        <p:nvSpPr>
          <p:cNvPr id="36" name="Text 34"/>
          <p:cNvSpPr/>
          <p:nvPr/>
        </p:nvSpPr>
        <p:spPr>
          <a:xfrm>
            <a:off x="713232" y="52303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E1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automation lens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2514600" y="5193792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internship connected agentic AI with hyper-automation — using models, tools and orchestration to support repeatable business processes.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566928" y="619963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A84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Week 4 official module — AI Agents &amp; Automation Workflows.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Integration, Security &amp; Compliance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85216" y="1033272"/>
            <a:ext cx="1051560" cy="0"/>
          </a:xfrm>
          <a:prstGeom prst="line">
            <a:avLst/>
          </a:prstGeom>
          <a:noFill/>
          <a:ln w="31750">
            <a:solidFill>
              <a:srgbClr val="8E183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107899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5 • connecting AI to users responsibly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481328"/>
            <a:ext cx="34290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81328"/>
            <a:ext cx="73152" cy="1417320"/>
          </a:xfrm>
          <a:prstGeom prst="rect">
            <a:avLst/>
          </a:prstGeom>
          <a:solidFill>
            <a:srgbClr val="8E1831"/>
          </a:solidFill>
          <a:ln w="12700">
            <a:solidFill>
              <a:srgbClr val="8E183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645920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/ App Integration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048256"/>
            <a:ext cx="308152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485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Streamlit and Gradio-style interfaces can turn AI services into accessible application experiences.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4370832" y="1481328"/>
            <a:ext cx="34290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70832" y="1481328"/>
            <a:ext cx="73152" cy="1417320"/>
          </a:xfrm>
          <a:prstGeom prst="rect">
            <a:avLst/>
          </a:prstGeom>
          <a:solidFill>
            <a:srgbClr val="8E1831"/>
          </a:solidFill>
          <a:ln w="12700">
            <a:solidFill>
              <a:srgbClr val="8E183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645920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2048256"/>
            <a:ext cx="308152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485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endpoints, credentials, model access and connected tools.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8101584" y="1481328"/>
            <a:ext cx="34290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01584" y="1481328"/>
            <a:ext cx="73152" cy="1417320"/>
          </a:xfrm>
          <a:prstGeom prst="rect">
            <a:avLst/>
          </a:prstGeom>
          <a:solidFill>
            <a:srgbClr val="244C74"/>
          </a:solidFill>
          <a:ln w="12700">
            <a:solidFill>
              <a:srgbClr val="244C7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02752" y="1645920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Responsible AI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02752" y="2048256"/>
            <a:ext cx="308152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485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Consider privacy, compliance, threat handling and bias mitigation.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1051560" y="3822192"/>
            <a:ext cx="960120" cy="9601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E183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410565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2960" y="49194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2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handling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794760" y="3822192"/>
            <a:ext cx="960120" cy="9601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44C7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94760" y="410565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566160" y="49194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2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 / control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537960" y="3822192"/>
            <a:ext cx="960120" cy="9601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E183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410565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309360" y="49194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2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Threat awareness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281160" y="3822192"/>
            <a:ext cx="960120" cy="9601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44C7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81160" y="410565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BIAS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052560" y="49194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2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Mitigation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66928" y="619963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A84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Week 5 official module — AI Integration, Security &amp; Compliance.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Kubernetes &amp; Observability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85216" y="1033272"/>
            <a:ext cx="1051560" cy="0"/>
          </a:xfrm>
          <a:prstGeom prst="line">
            <a:avLst/>
          </a:prstGeom>
          <a:noFill/>
          <a:ln w="31750">
            <a:solidFill>
              <a:srgbClr val="8E183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107899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6 • running AI services in production environments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1481328"/>
            <a:ext cx="6583680" cy="3840480"/>
          </a:xfrm>
          <a:prstGeom prst="roundRect">
            <a:avLst>
              <a:gd name="adj" fmla="val 1429"/>
            </a:avLst>
          </a:prstGeom>
          <a:solidFill>
            <a:srgbClr val="F0F3F8"/>
          </a:solidFill>
          <a:ln w="12700">
            <a:solidFill>
              <a:srgbClr val="CBD4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190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244C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KUBERNETES CLUSTER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60120" y="2240280"/>
            <a:ext cx="233172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1D9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9848" y="24048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E1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69848" y="2651760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API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977640" y="2240280"/>
            <a:ext cx="233172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1D9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87368" y="24048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E1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087368" y="2651760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Replica set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60120" y="3566160"/>
            <a:ext cx="233172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1D9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9848" y="373075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E1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69848" y="3977640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Traffic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977640" y="3566160"/>
            <a:ext cx="233172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1D9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87368" y="373075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E1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087368" y="3977640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552944" y="1481328"/>
            <a:ext cx="4005072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52944" y="1481328"/>
            <a:ext cx="73152" cy="1234440"/>
          </a:xfrm>
          <a:prstGeom prst="rect">
            <a:avLst/>
          </a:prstGeom>
          <a:solidFill>
            <a:srgbClr val="8E1831"/>
          </a:solidFill>
          <a:ln w="12700">
            <a:solidFill>
              <a:srgbClr val="8E183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54112" y="1645920"/>
            <a:ext cx="3675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Prometheus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54112" y="2048256"/>
            <a:ext cx="3657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485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Metrics and monitoring data for deployed services.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7552944" y="2889504"/>
            <a:ext cx="4005072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52944" y="2889504"/>
            <a:ext cx="73152" cy="1234440"/>
          </a:xfrm>
          <a:prstGeom prst="rect">
            <a:avLst/>
          </a:prstGeom>
          <a:solidFill>
            <a:srgbClr val="244C74"/>
          </a:solidFill>
          <a:ln w="12700">
            <a:solidFill>
              <a:srgbClr val="244C7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54112" y="3054096"/>
            <a:ext cx="3675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Grafana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754112" y="3456432"/>
            <a:ext cx="3657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485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Dashboards and visualization for operational visibility.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7552944" y="4297680"/>
            <a:ext cx="4005072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52944" y="4297680"/>
            <a:ext cx="73152" cy="1005840"/>
          </a:xfrm>
          <a:prstGeom prst="rect">
            <a:avLst/>
          </a:prstGeom>
          <a:solidFill>
            <a:srgbClr val="4B6E52"/>
          </a:solidFill>
          <a:ln w="12700">
            <a:solidFill>
              <a:srgbClr val="4B6E5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54112" y="4462272"/>
            <a:ext cx="3675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lesson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754112" y="48646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485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production AI system must be observed, not only deployed.</a:t>
            </a:r>
            <a:endParaRPr lang="en-US" sz="1120" dirty="0"/>
          </a:p>
        </p:txBody>
      </p:sp>
      <p:sp>
        <p:nvSpPr>
          <p:cNvPr id="31" name="Text 29"/>
          <p:cNvSpPr/>
          <p:nvPr/>
        </p:nvSpPr>
        <p:spPr>
          <a:xfrm>
            <a:off x="566928" y="619963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A84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Week 6 official module — Kubernetes &amp; Observability in Production AI.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Performance, Drift &amp; Advanced RAG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85216" y="1033272"/>
            <a:ext cx="1051560" cy="0"/>
          </a:xfrm>
          <a:prstGeom prst="line">
            <a:avLst/>
          </a:prstGeom>
          <a:noFill/>
          <a:ln w="31750">
            <a:solidFill>
              <a:srgbClr val="8E183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107899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7 • keeping AI systems accurate, efficient and useful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1993392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7830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4C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12648" y="21031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Tune model behaviour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807208" y="1554480"/>
            <a:ext cx="1993392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16936" y="17830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4C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916936" y="21031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Optimize cloud usage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111496" y="1554480"/>
            <a:ext cx="1993392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21224" y="17830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E1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DRIFT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221224" y="21031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 data changes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415784" y="1554480"/>
            <a:ext cx="1993392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25512" y="17830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4C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RETRAIN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525512" y="21031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Refresh models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720072" y="1554480"/>
            <a:ext cx="1993392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29800" y="17830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4C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829800" y="21031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 relevant context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12648" y="32461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architecture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21792" y="3822192"/>
            <a:ext cx="182880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CBD4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398678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Query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13232" y="42702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875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478024" y="4114800"/>
            <a:ext cx="210312" cy="228600"/>
          </a:xfrm>
          <a:prstGeom prst="chevron">
            <a:avLst/>
          </a:prstGeom>
          <a:solidFill>
            <a:srgbClr val="C7D0DF"/>
          </a:solidFill>
          <a:ln w="12700">
            <a:solidFill>
              <a:srgbClr val="C7D0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62072" y="3822192"/>
            <a:ext cx="182880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CBD4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53512" y="398678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Retrieval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953512" y="42702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875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Vector search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18304" y="4114800"/>
            <a:ext cx="210312" cy="228600"/>
          </a:xfrm>
          <a:prstGeom prst="chevron">
            <a:avLst/>
          </a:prstGeom>
          <a:solidFill>
            <a:srgbClr val="C7D0DF"/>
          </a:solidFill>
          <a:ln w="12700">
            <a:solidFill>
              <a:srgbClr val="C7D0D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02352" y="3822192"/>
            <a:ext cx="1828800" cy="841248"/>
          </a:xfrm>
          <a:prstGeom prst="roundRect">
            <a:avLst>
              <a:gd name="adj" fmla="val 5435"/>
            </a:avLst>
          </a:prstGeom>
          <a:solidFill>
            <a:srgbClr val="EAF0FA"/>
          </a:solidFill>
          <a:ln w="12700">
            <a:solidFill>
              <a:srgbClr val="CBD4E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93792" y="398678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4C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193792" y="42702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875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Relevant chunks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958584" y="4114800"/>
            <a:ext cx="210312" cy="228600"/>
          </a:xfrm>
          <a:prstGeom prst="chevron">
            <a:avLst/>
          </a:prstGeom>
          <a:solidFill>
            <a:srgbClr val="C7D0DF"/>
          </a:solidFill>
          <a:ln w="12700">
            <a:solidFill>
              <a:srgbClr val="C7D0D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42632" y="3822192"/>
            <a:ext cx="182880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CBD4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34072" y="398678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434072" y="42702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875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Grounded generation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98864" y="4114800"/>
            <a:ext cx="210312" cy="228600"/>
          </a:xfrm>
          <a:prstGeom prst="chevron">
            <a:avLst/>
          </a:prstGeom>
          <a:solidFill>
            <a:srgbClr val="C7D0DF"/>
          </a:solidFill>
          <a:ln w="12700">
            <a:solidFill>
              <a:srgbClr val="C7D0D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582912" y="3822192"/>
            <a:ext cx="182880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CBD4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674352" y="398678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9674352" y="42702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875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answer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21792" y="5074920"/>
            <a:ext cx="10561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Evidently AI was covered for model drift detection; LlamaIndex and vector-database integrations were covered for advanced RAG.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566928" y="619963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A84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Week 7 official module — Performance Optimization, Drift &amp; Advanced RAG.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&amp; Capstone Projects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85216" y="1033272"/>
            <a:ext cx="1051560" cy="0"/>
          </a:xfrm>
          <a:prstGeom prst="line">
            <a:avLst/>
          </a:prstGeom>
          <a:noFill/>
          <a:ln w="31750">
            <a:solidFill>
              <a:srgbClr val="8E183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107899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8 • bringing the learning together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76656" y="1481328"/>
            <a:ext cx="342900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1481328"/>
            <a:ext cx="73152" cy="1874520"/>
          </a:xfrm>
          <a:prstGeom prst="rect">
            <a:avLst/>
          </a:prstGeom>
          <a:solidFill>
            <a:srgbClr val="8E1831"/>
          </a:solidFill>
          <a:ln w="12700">
            <a:solidFill>
              <a:srgbClr val="8E183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645920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Full-Stack RAG Application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77824" y="2048256"/>
            <a:ext cx="3081528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485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backend + frontend</a:t>
            </a:r>
            <a:endParaRPr lang="en-US" sz="1120" dirty="0"/>
          </a:p>
          <a:p>
            <a:pPr algn="l" indent="0" marL="0">
              <a:buNone/>
            </a:pP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485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Retrieval-augmented generation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485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Knowledge-grounded responses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485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End-to-end application flow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4389120" y="1481328"/>
            <a:ext cx="342900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1481328"/>
            <a:ext cx="73152" cy="1874520"/>
          </a:xfrm>
          <a:prstGeom prst="rect">
            <a:avLst/>
          </a:prstGeom>
          <a:solidFill>
            <a:srgbClr val="244C74"/>
          </a:solidFill>
          <a:ln w="12700">
            <a:solidFill>
              <a:srgbClr val="244C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0288" y="1645920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Agent for Business Automation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90288" y="2048256"/>
            <a:ext cx="3081528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485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+ tools + orchestration</a:t>
            </a:r>
            <a:endParaRPr lang="en-US" sz="1120" dirty="0"/>
          </a:p>
          <a:p>
            <a:pPr algn="l" indent="0" marL="0">
              <a:buNone/>
            </a:pP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485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Multi-step workflows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485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Automation of business tasks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485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Structured agent execution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8101584" y="1481328"/>
            <a:ext cx="342900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01584" y="1481328"/>
            <a:ext cx="73152" cy="1874520"/>
          </a:xfrm>
          <a:prstGeom prst="rect">
            <a:avLst/>
          </a:prstGeom>
          <a:solidFill>
            <a:srgbClr val="4B6E52"/>
          </a:solidFill>
          <a:ln w="12700">
            <a:solidFill>
              <a:srgbClr val="4B6E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02752" y="1645920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End-to-End AI Solution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02752" y="2048256"/>
            <a:ext cx="3081528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485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model development to operation</a:t>
            </a:r>
            <a:endParaRPr lang="en-US" sz="1120" dirty="0"/>
          </a:p>
          <a:p>
            <a:pPr algn="l" indent="0" marL="0">
              <a:buNone/>
            </a:pP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485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API deployment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485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Monitoring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485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Scaling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676656" y="3840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E1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End-to-end perspective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6656" y="4187952"/>
            <a:ext cx="10652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capstone stage connected model development, API serving, deployment, automation, monitoring and scaling into a single production-oriented solution mindset.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713232" y="5193792"/>
            <a:ext cx="2423160" cy="310896"/>
          </a:xfrm>
          <a:prstGeom prst="roundRect">
            <a:avLst>
              <a:gd name="adj" fmla="val 17647"/>
            </a:avLst>
          </a:prstGeom>
          <a:solidFill>
            <a:srgbClr val="F5E7EC"/>
          </a:solidFill>
          <a:ln w="12700">
            <a:solidFill>
              <a:srgbClr val="F5E7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" y="5212080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E1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E-commerce case study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56432" y="5193792"/>
            <a:ext cx="2423160" cy="310896"/>
          </a:xfrm>
          <a:prstGeom prst="roundRect">
            <a:avLst>
              <a:gd name="adj" fmla="val 17647"/>
            </a:avLst>
          </a:prstGeom>
          <a:solidFill>
            <a:srgbClr val="E9EEF8"/>
          </a:solidFill>
          <a:ln w="12700">
            <a:solidFill>
              <a:srgbClr val="E9EE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11296" y="5212080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4C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Healthcare case study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99632" y="5193792"/>
            <a:ext cx="2423160" cy="310896"/>
          </a:xfrm>
          <a:prstGeom prst="roundRect">
            <a:avLst>
              <a:gd name="adj" fmla="val 17647"/>
            </a:avLst>
          </a:prstGeom>
          <a:solidFill>
            <a:srgbClr val="F5E7EC"/>
          </a:solidFill>
          <a:ln w="12700">
            <a:solidFill>
              <a:srgbClr val="F5E7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54496" y="5212080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E1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backend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942832" y="5193792"/>
            <a:ext cx="2423160" cy="310896"/>
          </a:xfrm>
          <a:prstGeom prst="roundRect">
            <a:avLst>
              <a:gd name="adj" fmla="val 17647"/>
            </a:avLst>
          </a:prstGeom>
          <a:solidFill>
            <a:srgbClr val="E9EEF8"/>
          </a:solidFill>
          <a:ln w="12700">
            <a:solidFill>
              <a:srgbClr val="E9EE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97696" y="5212080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4C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agent automation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66928" y="619963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A84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Week 8 official module and competencies listed on the completion certificate.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Internship Documents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85216" y="1033272"/>
            <a:ext cx="1051560" cy="0"/>
          </a:xfrm>
          <a:prstGeom prst="line">
            <a:avLst/>
          </a:prstGeom>
          <a:noFill/>
          <a:ln w="31750">
            <a:solidFill>
              <a:srgbClr val="8E183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107899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of selection and successful completion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58368" y="1344168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E1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Offer Letter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345936" y="1344168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4C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Certificate of Completion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03504" y="1682496"/>
            <a:ext cx="5285232" cy="4443984"/>
          </a:xfrm>
          <a:prstGeom prst="roundRect">
            <a:avLst>
              <a:gd name="adj" fmla="val 1029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72784" y="1682496"/>
            <a:ext cx="5285232" cy="4443984"/>
          </a:xfrm>
          <a:prstGeom prst="roundRect">
            <a:avLst>
              <a:gd name="adj" fmla="val 1029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</p:sp>
      <p:pic>
        <p:nvPicPr>
          <p:cNvPr id="9" name="Image 0" descr="/mnt/data/evidence_imgs/offer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847088"/>
            <a:ext cx="4315968" cy="4114800"/>
          </a:xfrm>
          <a:prstGeom prst="rect">
            <a:avLst/>
          </a:prstGeom>
        </p:spPr>
      </p:pic>
      <p:pic>
        <p:nvPicPr>
          <p:cNvPr id="10" name="Image 1" descr="/mnt/data/evidence_imgs/certific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847088"/>
            <a:ext cx="4206240" cy="4114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3232" y="6236208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Offer letter: Ref. C17Y2026M091505270 • June–August 2026</a:t>
            </a:r>
            <a:endParaRPr lang="en-US" sz="860" dirty="0"/>
          </a:p>
        </p:txBody>
      </p:sp>
      <p:sp>
        <p:nvSpPr>
          <p:cNvPr id="12" name="Text 8"/>
          <p:cNvSpPr/>
          <p:nvPr/>
        </p:nvSpPr>
        <p:spPr>
          <a:xfrm>
            <a:off x="6382512" y="623620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Completion certificate: Issued 10 Sep 2026 • Certificate ID 2026-D1DDA7AB3A</a:t>
            </a:r>
            <a:endParaRPr lang="en-US" sz="8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IILM University, Greater Noida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Deployment &amp; Automation</dc:title>
  <dc:subject>AI Deployment &amp; Automation Summer Internship</dc:subject>
  <dc:creator>Toshi Pandey</dc:creator>
  <cp:lastModifiedBy>Toshi Pandey</cp:lastModifiedBy>
  <cp:revision>1</cp:revision>
  <dcterms:created xsi:type="dcterms:W3CDTF">2026-09-10T15:48:49Z</dcterms:created>
  <dcterms:modified xsi:type="dcterms:W3CDTF">2026-09-10T15:48:49Z</dcterms:modified>
</cp:coreProperties>
</file>